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5A6371"/>
                </a:solidFill>
                <a:latin typeface="Arial"/>
              </a:rPr>
              <a:t>DCC · Track B1 — Trợ lý Discord · 3A · E403 · Cụm C3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98687" y="292608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5A6371"/>
                </a:solidFill>
                <a:latin typeface="Arial"/>
              </a:rPr>
              <a:t>1/6 · User &amp; Job · 45"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>
                <a:solidFill>
                  <a:srgbClr val="11151B"/>
                </a:solidFill>
                <a:latin typeface="Arial"/>
              </a:rPr>
              <a:t>Học viên K4 hỏi đi hỏi lại </a:t>
            </a:r>
            <a:r>
              <a:rPr sz="3000" b="1">
                <a:solidFill>
                  <a:srgbClr val="0F766E"/>
                </a:solidFill>
                <a:latin typeface="Arial"/>
              </a:rPr>
              <a:t>nộp ở đâu, hạn khi nào</a:t>
            </a:r>
            <a:r>
              <a:rPr sz="3000" b="1">
                <a:solidFill>
                  <a:srgbClr val="11151B"/>
                </a:solidFill>
                <a:latin typeface="Arial"/>
              </a:rPr>
              <a:t> — và đã có </a:t>
            </a:r>
            <a:r>
              <a:rPr sz="3000" b="1">
                <a:solidFill>
                  <a:srgbClr val="0F766E"/>
                </a:solidFill>
                <a:latin typeface="Arial"/>
              </a:rPr>
              <a:t>7 lần nộp muộn hoặc bị chặn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874519"/>
            <a:ext cx="6400800" cy="1143000"/>
          </a:xfrm>
          <a:prstGeom prst="roundRect">
            <a:avLst>
              <a:gd name="adj" fmla="val 6000"/>
            </a:avLst>
          </a:prstGeom>
          <a:solidFill>
            <a:srgbClr val="E3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2020823"/>
            <a:ext cx="59436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11151B"/>
                </a:solidFill>
                <a:latin typeface="Arial"/>
              </a:rPr>
              <a:t>Người dùng: </a:t>
            </a:r>
            <a:r>
              <a:rPr sz="1350" b="0">
                <a:solidFill>
                  <a:srgbClr val="11151B"/>
                </a:solidFill>
                <a:latin typeface="Arial"/>
              </a:rPr>
              <a:t>học viên K4 sắp nộp một hạng mục bắt buộc (daily standup, lab, đề tài, mentor duty, checkpoint).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11151B"/>
                </a:solidFill>
                <a:latin typeface="Arial"/>
              </a:rPr>
              <a:t>Việc cần làm: </a:t>
            </a:r>
            <a:r>
              <a:rPr sz="1350" b="0">
                <a:solidFill>
                  <a:srgbClr val="11151B"/>
                </a:solidFill>
                <a:latin typeface="Arial"/>
              </a:rPr>
              <a:t>xác định đúng nơi nộp, cách nộp và hạn nộp để được ghi nhận điểm danh, XP, điểm.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200399"/>
            <a:ext cx="2011680" cy="1828800"/>
          </a:xfrm>
          <a:prstGeom prst="roundRect">
            <a:avLst>
              <a:gd name="adj" fmla="val 6000"/>
            </a:avLst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3346703"/>
            <a:ext cx="160934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4000" b="1">
                <a:solidFill>
                  <a:srgbClr val="11151B"/>
                </a:solidFill>
                <a:latin typeface="Arial"/>
              </a:rPr>
              <a:t>28/275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4114799"/>
            <a:ext cx="160934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26303C"/>
                </a:solidFill>
                <a:latin typeface="Arial"/>
              </a:rPr>
              <a:t>câu hỏi của người là về nơi, cách, hạn nộp · 18 người · 3 ngày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61488" y="3200399"/>
            <a:ext cx="2011680" cy="1828800"/>
          </a:xfrm>
          <a:prstGeom prst="roundRect">
            <a:avLst>
              <a:gd name="adj" fmla="val 6000"/>
            </a:avLst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62656" y="3346703"/>
            <a:ext cx="160934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4000" b="1">
                <a:solidFill>
                  <a:srgbClr val="C0392F"/>
                </a:solidFill>
                <a:latin typeface="Arial"/>
              </a:rP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62656" y="4114799"/>
            <a:ext cx="160934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26303C"/>
                </a:solidFill>
                <a:latin typeface="Arial"/>
              </a:rPr>
              <a:t>lần đã muộn hoặc bị chặn; 5 lần do không rõ khung giờ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56048" y="3200399"/>
            <a:ext cx="2011680" cy="1828800"/>
          </a:xfrm>
          <a:prstGeom prst="roundRect">
            <a:avLst>
              <a:gd name="adj" fmla="val 6000"/>
            </a:avLst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57216" y="3346703"/>
            <a:ext cx="160934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4000" b="1">
                <a:solidFill>
                  <a:srgbClr val="11151B"/>
                </a:solidFill>
                <a:latin typeface="Arial"/>
              </a:rPr>
              <a:t>14/20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4114799"/>
            <a:ext cx="160934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26303C"/>
                </a:solidFill>
                <a:latin typeface="Arial"/>
              </a:rPr>
              <a:t>người khảo sát từng vướng khi tìm thông tin khoá trên Discord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79208" y="1874519"/>
            <a:ext cx="42455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5A6371"/>
                </a:solidFill>
                <a:latin typeface="Arial"/>
              </a:rPr>
              <a:t>TIN NHẮN THẬT TRONG DATA PACK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79208" y="2240279"/>
            <a:ext cx="45720" cy="9601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0376" y="2240279"/>
            <a:ext cx="404439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11151B"/>
                </a:solidFill>
                <a:latin typeface="Arial"/>
              </a:rPr>
              <a:t>"cái daly-standup sao m ghi là hết hôm nay nhưng nộp bài thì m kêu hết hạn."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0376" y="2990087"/>
            <a:ext cx="404439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5A6371"/>
                </a:solidFill>
                <a:latin typeface="Arial"/>
              </a:rPr>
              <a:t>M82163 — bot nói một đằng, hệ thống chặn một nẻo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79208" y="3447287"/>
            <a:ext cx="45720" cy="9601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0376" y="3447287"/>
            <a:ext cx="404439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11151B"/>
                </a:solidFill>
                <a:latin typeface="Arial"/>
              </a:rPr>
              <a:t>"hôm qua mình gửi sớm daily standup thì không được, chiều nay quá deadline thì nó lại blocked mình."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0376" y="4197095"/>
            <a:ext cx="404439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5A6371"/>
                </a:solidFill>
                <a:latin typeface="Arial"/>
              </a:rPr>
              <a:t>M98666 — bị chặn hai lần trong hai ngày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79208" y="4654295"/>
            <a:ext cx="45720" cy="9601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0376" y="4654295"/>
            <a:ext cx="404439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11151B"/>
                </a:solidFill>
                <a:latin typeface="Arial"/>
              </a:rPr>
              <a:t>"em nhận được thông báo là em nộp muộn không được điểm danh"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0376" y="5404103"/>
            <a:ext cx="404439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5A6371"/>
                </a:solidFill>
                <a:latin typeface="Arial"/>
              </a:rPr>
              <a:t>M21463 — mất điểm danh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5623560"/>
            <a:ext cx="6400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50" b="0">
                <a:solidFill>
                  <a:srgbClr val="5A6371"/>
                </a:solidFill>
                <a:latin typeface="Arial"/>
              </a:rPr>
              <a:t>Cách đếm: 779 tin của người → 275 tin là câu hỏi → lọc "nộp/submit/deadline/hạn" → đọc tay loại 5 tin không liên quan.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6217920"/>
            <a:ext cx="11057839" cy="9525"/>
          </a:xfrm>
          <a:prstGeom prst="rect">
            <a:avLst/>
          </a:prstGeom>
          <a:solidFill>
            <a:srgbClr val="DDE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6291072"/>
            <a:ext cx="922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5A6371"/>
                </a:solidFill>
                <a:latin typeface="Arial"/>
              </a:rPr>
              <a:t>discord-pack 12–14/09 (research/mining-evidence.md) · khảo sát 16/09, n = 20 (research/survey-results.md)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95967" y="6291072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5A6371"/>
                </a:solidFill>
                <a:latin typeface="Arial"/>
              </a:rPr>
              <a:t>spec §1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5A6371"/>
                </a:solidFill>
                <a:latin typeface="Arial"/>
              </a:rPr>
              <a:t>DCC · Vì sao chọn tính năng này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98687" y="292608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5A6371"/>
                </a:solidFill>
                <a:latin typeface="Arial"/>
              </a:rPr>
              <a:t>2/6 · 45"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>
                <a:solidFill>
                  <a:srgbClr val="11151B"/>
                </a:solidFill>
                <a:latin typeface="Arial"/>
              </a:rPr>
              <a:t>Bot Kute đã biết trả lời và chuyển Mod — thứ còn thiếu là </a:t>
            </a:r>
            <a:r>
              <a:rPr sz="3000" b="1">
                <a:solidFill>
                  <a:srgbClr val="0F766E"/>
                </a:solidFill>
                <a:latin typeface="Arial"/>
              </a:rPr>
              <a:t>nguồn đáng tin phía sau câu trả lời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92024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5A6371"/>
                </a:solidFill>
                <a:latin typeface="Arial"/>
              </a:rPr>
              <a:t>BOT ĐANG CHẠY LÀM GÌ VỚI ĐÚNG CÁC CÂU HỎI NÀY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2240280"/>
          <a:ext cx="5120640" cy="2414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96512"/>
                <a:gridCol w="1024128"/>
              </a:tblGrid>
              <a:tr h="402336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5A6371"/>
                          </a:solidFill>
                          <a:latin typeface="Arial"/>
                        </a:rPr>
                        <a:t>Chỉ số</a:t>
                      </a:r>
                    </a:p>
                  </a:txBody>
                  <a:tcPr marL="73152" marR="73152" marT="27432" marB="27432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5A6371"/>
                          </a:solidFill>
                          <a:latin typeface="Arial"/>
                        </a:rPr>
                        <a:t>Kute</a:t>
                      </a:r>
                    </a:p>
                  </a:txBody>
                  <a:tcPr marL="73152" marR="73152" marT="27432" marB="27432" anchor="ctr">
                    <a:solidFill>
                      <a:srgbClr val="F3F5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11151B"/>
                          </a:solidFill>
                          <a:latin typeface="Arial"/>
                        </a:rPr>
                        <a:t>Trả lời có nguồn hoặc ngày đăng để tự kiểm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C0392F"/>
                          </a:solidFill>
                          <a:latin typeface="Arial"/>
                        </a:rPr>
                        <a:t>0/15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11151B"/>
                          </a:solidFill>
                          <a:latin typeface="Arial"/>
                        </a:rPr>
                        <a:t>Lặp nguyên văn FAQ cũ "khung giờ 0h-10h"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C0392F"/>
                          </a:solidFill>
                          <a:latin typeface="Arial"/>
                        </a:rPr>
                        <a:t>11 lần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11151B"/>
                          </a:solidFill>
                          <a:latin typeface="Arial"/>
                        </a:rPr>
                        <a:t>Tin bot là menu hỏi lại (65/313 tin)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C0392F"/>
                          </a:solidFill>
                          <a:latin typeface="Arial"/>
                        </a:rPr>
                        <a:t>3/15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11151B"/>
                          </a:solidFill>
                          <a:latin typeface="Arial"/>
                        </a:rPr>
                        <a:t>Chuyển Mod có người trả lời trong thread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C0392F"/>
                          </a:solidFill>
                          <a:latin typeface="Arial"/>
                        </a:rPr>
                        <a:t>1/4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11151B"/>
                          </a:solidFill>
                          <a:latin typeface="Arial"/>
                        </a:rPr>
                        <a:t>Học viên trích lại lời bot rồi hỏi tiếp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11151B"/>
                          </a:solidFill>
                          <a:latin typeface="Arial"/>
                        </a:rPr>
                        <a:t>4 tin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4754880"/>
            <a:ext cx="5120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11151B"/>
                </a:solidFill>
                <a:latin typeface="Arial"/>
              </a:rPr>
              <a:t>Chỗ hỏng không phải "chưa có chatbot" mà là kiến thức phía sau: không nguồn, không phiên bản, không phát hiện mâu thuẫn, câu chưa có nguồn không ai đóng.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53328" y="1920240"/>
            <a:ext cx="55714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5A6371"/>
                </a:solidFill>
                <a:latin typeface="Arial"/>
              </a:rPr>
              <a:t>BỐN ỨNG VIÊN ĐÃ CÂN NHẮC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053328" y="2240280"/>
          <a:ext cx="5571436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2393"/>
                <a:gridCol w="1193879"/>
                <a:gridCol w="1478136"/>
                <a:gridCol w="1137028"/>
              </a:tblGrid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5A6371"/>
                          </a:solidFill>
                          <a:latin typeface="Arial"/>
                        </a:rPr>
                        <a:t>Ứng viên</a:t>
                      </a:r>
                    </a:p>
                  </a:txBody>
                  <a:tcPr marL="73152" marR="73152" marT="27432" marB="27432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5A6371"/>
                          </a:solidFill>
                          <a:latin typeface="Arial"/>
                        </a:rPr>
                        <a:t>Người · tần suất</a:t>
                      </a:r>
                    </a:p>
                  </a:txBody>
                  <a:tcPr marL="73152" marR="73152" marT="27432" marB="27432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5A6371"/>
                          </a:solidFill>
                          <a:latin typeface="Arial"/>
                        </a:rPr>
                        <a:t>Tốn gì mỗi lần</a:t>
                      </a:r>
                    </a:p>
                  </a:txBody>
                  <a:tcPr marL="73152" marR="73152" marT="27432" marB="27432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5A6371"/>
                          </a:solidFill>
                          <a:latin typeface="Arial"/>
                        </a:rPr>
                        <a:t>Quyết định</a:t>
                      </a:r>
                    </a:p>
                  </a:txBody>
                  <a:tcPr marL="73152" marR="73152" marT="27432" marB="27432" anchor="ctr">
                    <a:solidFill>
                      <a:srgbClr val="F3F5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11151B"/>
                          </a:solidFill>
                          <a:latin typeface="Arial"/>
                        </a:rPr>
                        <a:t>Trả lời chỉ từ sổ nguồn có phiên bản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1151B"/>
                          </a:solidFill>
                          <a:latin typeface="Arial"/>
                        </a:rPr>
                        <a:t>18 người · ~9 câu/ngày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1151B"/>
                          </a:solidFill>
                          <a:latin typeface="Arial"/>
                        </a:rPr>
                        <a:t>≥5 phút (11/20); 7 lần muộn → mất XP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1F9D6B"/>
                          </a:solidFill>
                          <a:latin typeface="Arial"/>
                        </a:rPr>
                        <a:t>Chọn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1151B"/>
                          </a:solidFill>
                          <a:latin typeface="Arial"/>
                        </a:rPr>
                        <a:t>Chỉ cải thiện hỏi lại / chuyển TA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1151B"/>
                          </a:solidFill>
                          <a:latin typeface="Arial"/>
                        </a:rPr>
                        <a:t>8/15 người dùng bot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1151B"/>
                          </a:solidFill>
                          <a:latin typeface="Arial"/>
                        </a:rPr>
                        <a:t>+1 lượt hỏi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1151B"/>
                          </a:solidFill>
                          <a:latin typeface="Arial"/>
                        </a:rPr>
                        <a:t>Loại — Kute đã có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1151B"/>
                          </a:solidFill>
                          <a:latin typeface="Arial"/>
                        </a:rPr>
                        <a:t>Bản tin câu hỏi tồn cho TA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1151B"/>
                          </a:solidFill>
                          <a:latin typeface="Arial"/>
                        </a:rPr>
                        <a:t>chưa có số từ TA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1151B"/>
                          </a:solidFill>
                          <a:latin typeface="Arial"/>
                        </a:rPr>
                        <a:t>3/4 lần chuyển Mod bỏ ngỏ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1151B"/>
                          </a:solidFill>
                          <a:latin typeface="Arial"/>
                        </a:rPr>
                        <a:t>Loại — thiếu bằng chứng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1151B"/>
                          </a:solidFill>
                          <a:latin typeface="Arial"/>
                        </a:rPr>
                        <a:t>Nhắc hạn chủ động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1151B"/>
                          </a:solidFill>
                          <a:latin typeface="Arial"/>
                        </a:rPr>
                        <a:t>6 người · 7 tin/3 ngày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1151B"/>
                          </a:solidFill>
                          <a:latin typeface="Arial"/>
                        </a:rPr>
                        <a:t>mất XP ngày đó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1151B"/>
                          </a:solidFill>
                          <a:latin typeface="Arial"/>
                        </a:rPr>
                        <a:t>Loại — dễ thành phiền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66928" y="6217920"/>
            <a:ext cx="11057839" cy="9525"/>
          </a:xfrm>
          <a:prstGeom prst="rect">
            <a:avLst/>
          </a:prstGeom>
          <a:solidFill>
            <a:srgbClr val="DDE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6291072"/>
            <a:ext cx="922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5A6371"/>
                </a:solidFill>
                <a:latin typeface="Arial"/>
              </a:rPr>
              <a:t>Nhãn câu trả lời thật của Kute cho 15 câu hỏi trong eval/golden_set.json · đếm trên tin bot của discord-pack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95967" y="6291072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5A6371"/>
                </a:solidFill>
                <a:latin typeface="Arial"/>
              </a:rPr>
              <a:t>spec §2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5A6371"/>
                </a:solidFill>
                <a:latin typeface="Arial"/>
              </a:rPr>
              <a:t>DCC · Giải pháp &amp; demo live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98687" y="292608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5A6371"/>
                </a:solidFill>
                <a:latin typeface="Arial"/>
              </a:rPr>
              <a:t>3/6 · 2'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>
                <a:solidFill>
                  <a:srgbClr val="11151B"/>
                </a:solidFill>
                <a:latin typeface="Arial"/>
              </a:rPr>
              <a:t>Có nguồn thì trả lời kèm trích dẫn; hai thông báo </a:t>
            </a:r>
            <a:r>
              <a:rPr sz="3000" b="1">
                <a:solidFill>
                  <a:srgbClr val="0F766E"/>
                </a:solidFill>
                <a:latin typeface="Arial"/>
              </a:rPr>
              <a:t>mâu thuẫn thì hiện cả hai và gọi 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828800"/>
            <a:ext cx="5760720" cy="1051560"/>
          </a:xfrm>
          <a:prstGeom prst="roundRect">
            <a:avLst>
              <a:gd name="adj" fmla="val 6000"/>
            </a:avLst>
          </a:prstGeom>
          <a:solidFill>
            <a:srgbClr val="E3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956816"/>
            <a:ext cx="5394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11151B"/>
                </a:solidFill>
                <a:latin typeface="Arial"/>
              </a:rPr>
              <a:t>Lát cắt: </a:t>
            </a:r>
            <a:r>
              <a:rPr sz="1350" b="0">
                <a:solidFill>
                  <a:srgbClr val="11151B"/>
                </a:solidFill>
                <a:latin typeface="Arial"/>
              </a:rPr>
              <a:t>học viên hỏi nơi / cách / hạn nộp một hạng mục → AI đối chiếu sổ nguồn có phiên bản → trả lời kèm trích dẫn, hoặc báo mâu thuẫn, hỏi lại, chuyển 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063240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1F9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FOUND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67128" y="3090672"/>
            <a:ext cx="4114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11151B"/>
                </a:solidFill>
                <a:latin typeface="Arial"/>
              </a:rPr>
              <a:t>đúng một nguồn còn hiệu lực → 5 trường nguyên văn + mã, loại nguồn, ngày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3538728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C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CONFLICT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67128" y="3566160"/>
            <a:ext cx="4114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11151B"/>
                </a:solidFill>
                <a:latin typeface="Arial"/>
              </a:rPr>
              <a:t>hai nguồn nói khác nhau → hiện cả hai, gợi ý mốc sớm hơn, gọi 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4014216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2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CLARIFY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67128" y="4041648"/>
            <a:ext cx="4114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11151B"/>
                </a:solidFill>
                <a:latin typeface="Arial"/>
              </a:rPr>
              <a:t>thiếu hạng mục hoặc số lab → menu chọn, một lần bấm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89704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C03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NOT_FOUND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67128" y="4517136"/>
            <a:ext cx="4114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11151B"/>
                </a:solidFill>
                <a:latin typeface="Arial"/>
              </a:rPr>
              <a:t>sổ không có → không đoán hạn, gom cụm vào hàng chờ 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965192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6A4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OUT_OF_SCOPE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67128" y="4992624"/>
            <a:ext cx="4114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11151B"/>
                </a:solidFill>
                <a:latin typeface="Arial"/>
              </a:rPr>
              <a:t>gia hạn, điểm danh, injection → từ chối, soạn tin gửi TA/BTC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532120"/>
            <a:ext cx="5760720" cy="1143000"/>
          </a:xfrm>
          <a:prstGeom prst="roundRect">
            <a:avLst>
              <a:gd name="adj" fmla="val 6000"/>
            </a:avLst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" y="5660136"/>
            <a:ext cx="5394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5A6371"/>
                </a:solidFill>
                <a:latin typeface="Arial"/>
              </a:rPr>
              <a:t>MỨC TỰ ĐỘNG THEO GIÁ CỦA SAI LẦM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11151B"/>
                </a:solidFill>
                <a:latin typeface="Arial"/>
              </a:rPr>
              <a:t>Trả lời học viên — conditional: </a:t>
            </a:r>
            <a:r>
              <a:rPr sz="1150" b="0">
                <a:solidFill>
                  <a:srgbClr val="11151B"/>
                </a:solidFill>
                <a:latin typeface="Arial"/>
              </a:rPr>
              <a:t>sai hạn là mất điểm và không sửa được sau hạn; hỏi lại chỉ tốn một lần bấm.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11151B"/>
                </a:solidFill>
                <a:latin typeface="Arial"/>
              </a:rPr>
              <a:t>Ghi thông báo mới vào sổ — augment: </a:t>
            </a:r>
            <a:r>
              <a:rPr sz="1150" b="0">
                <a:solidFill>
                  <a:srgbClr val="11151B"/>
                </a:solidFill>
                <a:latin typeface="Arial"/>
              </a:rPr>
              <a:t>một mục sai sẽ sai cho mọi người hỏi sau, nên TA duyệt hoặc sửa trước khi ghi.</a:t>
            </a:r>
          </a:p>
        </p:txBody>
      </p:sp>
      <p:pic>
        <p:nvPicPr>
          <p:cNvPr id="19" name="Picture 18" descr="f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968" y="1828800"/>
            <a:ext cx="2661402" cy="3977639"/>
          </a:xfrm>
          <a:prstGeom prst="rect">
            <a:avLst/>
          </a:prstGeom>
        </p:spPr>
      </p:pic>
      <p:pic>
        <p:nvPicPr>
          <p:cNvPr id="20" name="Picture 19" descr="conflic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0888" y="1828800"/>
            <a:ext cx="2661402" cy="3977639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566928" y="6217920"/>
            <a:ext cx="11057839" cy="9525"/>
          </a:xfrm>
          <a:prstGeom prst="rect">
            <a:avLst/>
          </a:prstGeom>
          <a:solidFill>
            <a:srgbClr val="DDE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6291072"/>
            <a:ext cx="922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5A6371"/>
                </a:solidFill>
                <a:latin typeface="Arial"/>
              </a:rPr>
              <a:t>Ảnh chụp bot DCC trên server Discord test · LLM gemini-3.5-flash-lite + kiểm tra bằng code (codebase/dcc/decide.py)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95967" y="6291072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5A6371"/>
                </a:solidFill>
                <a:latin typeface="Arial"/>
              </a:rPr>
              <a:t>spec §4, §6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5A6371"/>
                </a:solidFill>
                <a:latin typeface="Arial"/>
              </a:rPr>
              <a:t>DCC · Kết quả đo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98687" y="292608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5A6371"/>
                </a:solidFill>
                <a:latin typeface="Arial"/>
              </a:rPr>
              <a:t>4/6 · 45"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>
                <a:solidFill>
                  <a:srgbClr val="11151B"/>
                </a:solidFill>
                <a:latin typeface="Arial"/>
              </a:rPr>
              <a:t>Trên 22 câu hỏi mới, DCC đạt 86% ở lượt đầu — </a:t>
            </a:r>
            <a:r>
              <a:rPr sz="3000" b="1">
                <a:solidFill>
                  <a:srgbClr val="0F766E"/>
                </a:solidFill>
                <a:latin typeface="Arial"/>
              </a:rPr>
              <a:t>chưa qua bar</a:t>
            </a:r>
            <a:r>
              <a:rPr sz="3000" b="1">
                <a:solidFill>
                  <a:srgbClr val="11151B"/>
                </a:solidFill>
                <a:latin typeface="Arial"/>
              </a:rPr>
              <a:t> vì một câu trả lời vượt nguồn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874519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5A6371"/>
                </a:solidFill>
                <a:latin typeface="Arial"/>
              </a:rPr>
              <a:t>15 CÂU HỎI THẬT · KUTE → DCC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2194559"/>
          <a:ext cx="5394959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6976"/>
                <a:gridCol w="924850"/>
                <a:gridCol w="1233133"/>
              </a:tblGrid>
              <a:tr h="41148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5A6371"/>
                          </a:solidFill>
                          <a:latin typeface="Arial"/>
                        </a:rPr>
                        <a:t>Hành vi</a:t>
                      </a:r>
                    </a:p>
                  </a:txBody>
                  <a:tcPr marL="73152" marR="73152" marT="27432" marB="27432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5A6371"/>
                          </a:solidFill>
                          <a:latin typeface="Arial"/>
                        </a:rPr>
                        <a:t>Kute</a:t>
                      </a:r>
                    </a:p>
                  </a:txBody>
                  <a:tcPr marL="73152" marR="73152" marT="27432" marB="27432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5A6371"/>
                          </a:solidFill>
                          <a:latin typeface="Arial"/>
                        </a:rPr>
                        <a:t>DCC</a:t>
                      </a:r>
                    </a:p>
                  </a:txBody>
                  <a:tcPr marL="73152" marR="73152" marT="27432" marB="27432" anchor="ctr">
                    <a:solidFill>
                      <a:srgbClr val="F3F5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11151B"/>
                          </a:solidFill>
                          <a:latin typeface="Arial"/>
                        </a:rPr>
                        <a:t>Có phản hồi cho người hỏi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11151B"/>
                          </a:solidFill>
                          <a:latin typeface="Arial"/>
                        </a:rPr>
                        <a:t>12/15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1F9D6B"/>
                          </a:solidFill>
                          <a:latin typeface="Arial"/>
                        </a:rPr>
                        <a:t>15/15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11151B"/>
                          </a:solidFill>
                          <a:latin typeface="Arial"/>
                        </a:rPr>
                        <a:t>Trả lời hạn/nơi nộp kèm nguồn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C0392F"/>
                          </a:solidFill>
                          <a:latin typeface="Arial"/>
                        </a:rPr>
                        <a:t>0/15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1F9D6B"/>
                          </a:solidFill>
                          <a:latin typeface="Arial"/>
                        </a:rPr>
                        <a:t>10/10 FOUND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11151B"/>
                          </a:solidFill>
                          <a:latin typeface="Arial"/>
                        </a:rPr>
                        <a:t>Hỏi lại dù câu đã rõ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C0392F"/>
                          </a:solidFill>
                          <a:latin typeface="Arial"/>
                        </a:rPr>
                        <a:t>3/15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1F9D6B"/>
                          </a:solidFill>
                          <a:latin typeface="Arial"/>
                        </a:rPr>
                        <a:t>0/15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11151B"/>
                          </a:solidFill>
                          <a:latin typeface="Arial"/>
                        </a:rPr>
                        <a:t>Nhắc quy định cũ / FAQ cứng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C0392F"/>
                          </a:solidFill>
                          <a:latin typeface="Arial"/>
                        </a:rPr>
                        <a:t>3/15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1F9D6B"/>
                          </a:solidFill>
                          <a:latin typeface="Arial"/>
                        </a:rPr>
                        <a:t>0/15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11151B"/>
                          </a:solidFill>
                          <a:latin typeface="Arial"/>
                        </a:rPr>
                        <a:t>Bỏ qua hoặc chỉ chuyển Mod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C0392F"/>
                          </a:solidFill>
                          <a:latin typeface="Arial"/>
                        </a:rPr>
                        <a:t>4/15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1F9D6B"/>
                          </a:solidFill>
                          <a:latin typeface="Arial"/>
                        </a:rPr>
                        <a:t>0/15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11151B"/>
                          </a:solidFill>
                          <a:latin typeface="Arial"/>
                        </a:rPr>
                        <a:t>Trả lời chắc chắn khi không có nguồn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C0392F"/>
                          </a:solidFill>
                          <a:latin typeface="Arial"/>
                        </a:rPr>
                        <a:t>1/15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1F9D6B"/>
                          </a:solidFill>
                          <a:latin typeface="Arial"/>
                        </a:rPr>
                        <a:t>0/15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5303519"/>
            <a:ext cx="5394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50" b="0">
                <a:solidFill>
                  <a:srgbClr val="5A6371"/>
                </a:solidFill>
                <a:latin typeface="Arial"/>
              </a:rPr>
              <a:t>Đọc cho đúng: Kute trả lời trên dữ liệu thật của khoá, DCC trên sổ nguồn giả lập mô phỏng cùng tình huống → so hành vi, không so độ đúng nội dung.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1874519"/>
            <a:ext cx="52971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5A6371"/>
                </a:solidFill>
                <a:latin typeface="Arial"/>
              </a:rPr>
              <a:t>QUALITY BAR KHOÁ TỪ CP4 · KẾT QUẢ CÁC BỘ ĐO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327648" y="2194559"/>
          <a:ext cx="5297117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7910"/>
                <a:gridCol w="1306138"/>
                <a:gridCol w="653069"/>
              </a:tblGrid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5A6371"/>
                          </a:solidFill>
                          <a:latin typeface="Arial"/>
                        </a:rPr>
                        <a:t>Bộ đo</a:t>
                      </a:r>
                    </a:p>
                  </a:txBody>
                  <a:tcPr marL="73152" marR="73152" marT="27432" marB="27432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5A6371"/>
                          </a:solidFill>
                          <a:latin typeface="Arial"/>
                        </a:rPr>
                        <a:t>Đạt</a:t>
                      </a:r>
                    </a:p>
                  </a:txBody>
                  <a:tcPr marL="73152" marR="73152" marT="27432" marB="27432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5A6371"/>
                          </a:solidFill>
                          <a:latin typeface="Arial"/>
                        </a:rPr>
                        <a:t>Bar</a:t>
                      </a:r>
                    </a:p>
                  </a:txBody>
                  <a:tcPr marL="73152" marR="73152" marT="27432" marB="27432" anchor="ctr">
                    <a:solidFill>
                      <a:srgbClr val="F3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11151B"/>
                          </a:solidFill>
                          <a:latin typeface="Arial"/>
                        </a:rPr>
                        <a:t>Golden 27 câu (đã dùng để sửa) · lượt 4–5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11151B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1F9D6B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11151B"/>
                          </a:solidFill>
                          <a:latin typeface="Arial"/>
                        </a:rPr>
                        <a:t>Held-out 22 câu mới · lượt 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11151B"/>
                          </a:solidFill>
                          <a:latin typeface="Arial"/>
                        </a:rPr>
                        <a:t>86,4%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C0392F"/>
                          </a:solidFill>
                          <a:latin typeface="Arial"/>
                        </a:rPr>
                        <a:t>✗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11151B"/>
                          </a:solidFill>
                          <a:latin typeface="Arial"/>
                        </a:rPr>
                        <a:t>Held-out · lượt 2 sau khi sửa 3 lỗi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11151B"/>
                          </a:solidFill>
                          <a:latin typeface="Arial"/>
                        </a:rPr>
                        <a:t>95,5%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C0392F"/>
                          </a:solidFill>
                          <a:latin typeface="Arial"/>
                        </a:rPr>
                        <a:t>✗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11151B"/>
                          </a:solidFill>
                          <a:latin typeface="Arial"/>
                        </a:rPr>
                        <a:t>Nạp nguồn 10 thông báo · 3 lượt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>
                          <a:solidFill>
                            <a:srgbClr val="11151B"/>
                          </a:solidFill>
                          <a:latin typeface="Arial"/>
                        </a:rPr>
                        <a:t>10/10 · 9/10 · 10/10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1">
                          <a:solidFill>
                            <a:srgbClr val="1F9D6B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327648" y="4480559"/>
            <a:ext cx="5297119" cy="1691640"/>
          </a:xfrm>
          <a:prstGeom prst="roundRect">
            <a:avLst>
              <a:gd name="adj" fmla="val 6000"/>
            </a:avLst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28816" y="4617719"/>
            <a:ext cx="4894783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5A6371"/>
                </a:solidFill>
                <a:latin typeface="Arial"/>
              </a:rPr>
              <a:t>LỖI ĐÁNG KỂ NHẤT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>
                <a:solidFill>
                  <a:srgbClr val="11151B"/>
                </a:solidFill>
                <a:latin typeface="Arial"/>
              </a:rPr>
              <a:t>"Lab 3 lớp 3B?" </a:t>
            </a:r>
            <a:r>
              <a:rPr sz="1250" b="0">
                <a:solidFill>
                  <a:srgbClr val="11151B"/>
                </a:solidFill>
                <a:latin typeface="Arial"/>
              </a:rPr>
              <a:t>bị báo mâu thuẫn sai vì sổ nguồn chưa có trường lớp — đã sửa, lượt 2 đúng.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>
                <a:solidFill>
                  <a:srgbClr val="11151B"/>
                </a:solidFill>
                <a:latin typeface="Arial"/>
              </a:rPr>
              <a:t>"Daily có áp dụng cho buổi LAB?" </a:t>
            </a:r>
            <a:r>
              <a:rPr sz="1250" b="0">
                <a:solidFill>
                  <a:srgbClr val="11151B"/>
                </a:solidFill>
                <a:latin typeface="Arial"/>
              </a:rPr>
              <a:t>vẫn trả lời vượt nguồn — chưa sửa được, nên bar vẫn chưa đạt.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6217920"/>
            <a:ext cx="11057839" cy="9525"/>
          </a:xfrm>
          <a:prstGeom prst="rect">
            <a:avLst/>
          </a:prstGeom>
          <a:solidFill>
            <a:srgbClr val="DDE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6291072"/>
            <a:ext cx="922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5A6371"/>
                </a:solidFill>
                <a:latin typeface="Arial"/>
              </a:rPr>
              <a:t>Bar: Q1 ≥ 85% và ≥ 75% mỗi nhóm · bịa = 0 · mâu thuẫn, phạm vi 100% · trung vị ≤ 3 s · chi tiết eval/run_results.md, eval/heldout_results.md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95967" y="6291072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5A6371"/>
                </a:solidFill>
                <a:latin typeface="Arial"/>
              </a:rPr>
              <a:t>spec §7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5A6371"/>
                </a:solidFill>
                <a:latin typeface="Arial"/>
              </a:rPr>
              <a:t>DCC · Đối chiếu chuẩn "đạt"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98687" y="292608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5A6371"/>
                </a:solidFill>
                <a:latin typeface="Arial"/>
              </a:rPr>
              <a:t>5/6 · 45"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>
                <a:solidFill>
                  <a:srgbClr val="11151B"/>
                </a:solidFill>
                <a:latin typeface="Arial"/>
              </a:rPr>
              <a:t>Bar khoá từ CP4 </a:t>
            </a:r>
            <a:r>
              <a:rPr sz="3000" b="1">
                <a:solidFill>
                  <a:srgbClr val="0F766E"/>
                </a:solidFill>
                <a:latin typeface="Arial"/>
              </a:rPr>
              <a:t>chưa đạt</a:t>
            </a:r>
            <a:r>
              <a:rPr sz="3000" b="1">
                <a:solidFill>
                  <a:srgbClr val="11151B"/>
                </a:solidFill>
                <a:latin typeface="Arial"/>
              </a:rPr>
              <a:t> — trượt ở một câu trả lời vượt nguồn, nhóm không hạ chuẩn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874519"/>
          <a:ext cx="6035039" cy="2944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1365068"/>
                <a:gridCol w="1652451"/>
              </a:tblGrid>
              <a:tr h="420624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5A6371"/>
                          </a:solidFill>
                          <a:latin typeface="Arial"/>
                        </a:rPr>
                        <a:t>Điều kiện đã khoá</a:t>
                      </a:r>
                    </a:p>
                  </a:txBody>
                  <a:tcPr marL="73152" marR="73152" marT="27432" marB="27432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5A6371"/>
                          </a:solidFill>
                          <a:latin typeface="Arial"/>
                        </a:rPr>
                        <a:t>Ngưỡng</a:t>
                      </a:r>
                    </a:p>
                  </a:txBody>
                  <a:tcPr marL="73152" marR="73152" marT="27432" marB="27432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5A6371"/>
                          </a:solidFill>
                          <a:latin typeface="Arial"/>
                        </a:rPr>
                        <a:t>Held-out lượt 1</a:t>
                      </a:r>
                    </a:p>
                  </a:txBody>
                  <a:tcPr marL="73152" marR="73152" marT="27432" marB="27432" anchor="ctr">
                    <a:solidFill>
                      <a:srgbClr val="F3F5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1151B"/>
                          </a:solidFill>
                          <a:latin typeface="Arial"/>
                        </a:rPr>
                        <a:t>Quyết định đúng, toàn bộ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1151B"/>
                          </a:solidFill>
                          <a:latin typeface="Arial"/>
                        </a:rPr>
                        <a:t>≥ 85%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F9D6B"/>
                          </a:solidFill>
                          <a:latin typeface="Arial"/>
                        </a:rPr>
                        <a:t>86,4% ✓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1151B"/>
                          </a:solidFill>
                          <a:latin typeface="Arial"/>
                        </a:rPr>
                        <a:t>Quyết định đúng, nhóm thấp nhất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1151B"/>
                          </a:solidFill>
                          <a:latin typeface="Arial"/>
                        </a:rPr>
                        <a:t>≥ 75%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C0392F"/>
                          </a:solidFill>
                          <a:latin typeface="Arial"/>
                        </a:rPr>
                        <a:t>66,7% ✗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1151B"/>
                          </a:solidFill>
                          <a:latin typeface="Arial"/>
                        </a:rPr>
                        <a:t>Bịa hạn khi không có nguồn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1151B"/>
                          </a:solidFill>
                          <a:latin typeface="Arial"/>
                        </a:rPr>
                        <a:t>= 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C0392F"/>
                          </a:solidFill>
                          <a:latin typeface="Arial"/>
                        </a:rPr>
                        <a:t>1 ✗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1151B"/>
                          </a:solidFill>
                          <a:latin typeface="Arial"/>
                        </a:rPr>
                        <a:t>Mâu thuẫn hiện đủ nguồn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1151B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F9D6B"/>
                          </a:solidFill>
                          <a:latin typeface="Arial"/>
                        </a:rPr>
                        <a:t>100% ✓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1151B"/>
                          </a:solidFill>
                          <a:latin typeface="Arial"/>
                        </a:rPr>
                        <a:t>Từ chối đúng thẩm quyền, injection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1151B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F9D6B"/>
                          </a:solidFill>
                          <a:latin typeface="Arial"/>
                        </a:rPr>
                        <a:t>100% ✓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1151B"/>
                          </a:solidFill>
                          <a:latin typeface="Arial"/>
                        </a:rPr>
                        <a:t>Hỏi lại thừa · trung vị trả lời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1151B"/>
                          </a:solidFill>
                          <a:latin typeface="Arial"/>
                        </a:rPr>
                        <a:t>≤ 10% · ≤ 3 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F9D6B"/>
                          </a:solidFill>
                          <a:latin typeface="Arial"/>
                        </a:rPr>
                        <a:t>0% · 1,6 s ✓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66928" y="5029199"/>
            <a:ext cx="6035040" cy="914400"/>
          </a:xfrm>
          <a:prstGeom prst="roundRect">
            <a:avLst>
              <a:gd name="adj" fmla="val 6000"/>
            </a:avLst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5148071"/>
            <a:ext cx="5669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5A6371"/>
                </a:solidFill>
                <a:latin typeface="Arial"/>
              </a:rPr>
              <a:t>VÌ SAO VẪN BÁO LÀ CHƯA ĐẠT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11151B"/>
                </a:solidFill>
                <a:latin typeface="Arial"/>
              </a:rPr>
              <a:t>Bar viết lúc 14:31 ngày 17/09, chạy held-out lúc 15:25; ngưỡng giữ nguyên sau khi thấy kết quả.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67728" y="1874519"/>
            <a:ext cx="4657039" cy="1234440"/>
          </a:xfrm>
          <a:prstGeom prst="roundRect">
            <a:avLst>
              <a:gd name="adj" fmla="val 6000"/>
            </a:avLst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87184" y="2002535"/>
            <a:ext cx="4218127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5A6371"/>
                </a:solidFill>
                <a:latin typeface="Arial"/>
              </a:rPr>
              <a:t>ĐÃ SỬA ĐƯỢC 2 TRONG 3 CÂU TRƯỢT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50" b="0">
                <a:solidFill>
                  <a:srgbClr val="11151B"/>
                </a:solidFill>
                <a:latin typeface="Arial"/>
              </a:rPr>
              <a:t>Lớp 3B bị báo mâu thuẫn sai → thêm phạm vi lớp cho sổ nguồn. Tin lẫn lỗi code bị từ chối nhầm → thêm luật prompt. Chạy lại: 21/22 = 95,5%, golden vẫn 27/27.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67728" y="3291839"/>
            <a:ext cx="4657039" cy="1234440"/>
          </a:xfrm>
          <a:prstGeom prst="roundRect">
            <a:avLst>
              <a:gd name="adj" fmla="val 6000"/>
            </a:avLst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67728" y="3291839"/>
            <a:ext cx="64008" cy="1234440"/>
          </a:xfrm>
          <a:prstGeom prst="rect">
            <a:avLst/>
          </a:prstGeom>
          <a:solidFill>
            <a:srgbClr val="C03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87184" y="3419855"/>
            <a:ext cx="4218127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5A6371"/>
                </a:solidFill>
                <a:latin typeface="Arial"/>
              </a:rPr>
              <a:t>CÂU CÒN TRƯỢT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50" b="0">
                <a:solidFill>
                  <a:srgbClr val="11151B"/>
                </a:solidFill>
                <a:latin typeface="Arial"/>
              </a:rPr>
              <a:t>"Daily standup có áp dụng cho buổi LAB, LEC không?" — sổ nguồn không nói phạm vi áp dụng, model vẫn suy ra từ chữ "mỗi ngày". Luật prompt chưa đủ, cần mô tả phạm vi trong dữ liệu.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67728" y="4709159"/>
            <a:ext cx="4657039" cy="1234440"/>
          </a:xfrm>
          <a:prstGeom prst="roundRect">
            <a:avLst>
              <a:gd name="adj" fmla="val 6000"/>
            </a:avLst>
          </a:prstGeom>
          <a:solidFill>
            <a:srgbClr val="E3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87184" y="4837175"/>
            <a:ext cx="4218127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5A6371"/>
                </a:solidFill>
                <a:latin typeface="Arial"/>
              </a:rPr>
              <a:t>CHƯA LÀM ĐƯỢC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50" b="0">
                <a:solidFill>
                  <a:srgbClr val="11151B"/>
                </a:solidFill>
                <a:latin typeface="Arial"/>
              </a:rPr>
              <a:t>Chưa cho người ngoài nhóm dùng thử (nhóm không đủ người có mặt sáng 18/09), nên chưa có quote người dùng và chưa có thay đổi nào đến từ họ.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6217920"/>
            <a:ext cx="11057839" cy="9525"/>
          </a:xfrm>
          <a:prstGeom prst="rect">
            <a:avLst/>
          </a:prstGeom>
          <a:solidFill>
            <a:srgbClr val="DDE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6291072"/>
            <a:ext cx="922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5A6371"/>
                </a:solidFill>
                <a:latin typeface="Arial"/>
              </a:rPr>
              <a:t>eval/heldout_results.md · eval/run_results.md · spec §7.2 (bar) và §8 (phần tự khai)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95967" y="6291072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5A6371"/>
                </a:solidFill>
                <a:latin typeface="Arial"/>
              </a:rPr>
              <a:t>spec §7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5A6371"/>
                </a:solidFill>
                <a:latin typeface="Arial"/>
              </a:rPr>
              <a:t>DCC · Nếu có thêm 1 tuần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98687" y="292608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5A6371"/>
                </a:solidFill>
                <a:latin typeface="Arial"/>
              </a:rPr>
              <a:t>6/6 · 30"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>
                <a:solidFill>
                  <a:srgbClr val="11151B"/>
                </a:solidFill>
                <a:latin typeface="Arial"/>
              </a:rPr>
              <a:t>Ba việc tiếp theo đều nhắm vào </a:t>
            </a:r>
            <a:r>
              <a:rPr sz="3000" b="1">
                <a:solidFill>
                  <a:srgbClr val="0F766E"/>
                </a:solidFill>
                <a:latin typeface="Arial"/>
              </a:rPr>
              <a:t>lỗ hổng bằng chứng</a:t>
            </a:r>
            <a:r>
              <a:rPr sz="3000" b="1">
                <a:solidFill>
                  <a:srgbClr val="11151B"/>
                </a:solidFill>
                <a:latin typeface="Arial"/>
              </a:rPr>
              <a:t>, không thêm tính năng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87451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52728" y="1892807"/>
            <a:ext cx="6035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11151B"/>
                </a:solidFill>
                <a:latin typeface="Arial"/>
              </a:rPr>
              <a:t>Nối kênh thông báo thật và phỏng vấn 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52728" y="2331719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5A6371"/>
                </a:solidFill>
                <a:latin typeface="Arial"/>
              </a:rPr>
              <a:t>6/7 mục sổ nguồn đang là giả lập; chưa có số liệu nào từ phía 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2607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2728" y="2944367"/>
            <a:ext cx="6035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11151B"/>
                </a:solidFill>
                <a:latin typeface="Arial"/>
              </a:rPr>
              <a:t>Mở rộng held-out lên 100+ câu hỏi thật, có người ngoài nhóm chấm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2728" y="3383279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5A6371"/>
                </a:solidFill>
                <a:latin typeface="Arial"/>
              </a:rPr>
              <a:t>golden 100% nhưng câu mới chỉ 86,4% ở lượt đầu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97763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2728" y="3995927"/>
            <a:ext cx="6035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11151B"/>
                </a:solidFill>
                <a:latin typeface="Arial"/>
              </a:rPr>
              <a:t>Kiểm phạm vi áp dụng bằng dữ liệu thay vì luật prompt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52728" y="4434839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5A6371"/>
                </a:solidFill>
                <a:latin typeface="Arial"/>
              </a:rPr>
              <a:t>HO07 vẫn trả lời vượt nguồn sau khi đã thêm luật vào prompt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07808" y="1874519"/>
            <a:ext cx="4016959" cy="1828800"/>
          </a:xfrm>
          <a:prstGeom prst="roundRect">
            <a:avLst>
              <a:gd name="adj" fmla="val 6000"/>
            </a:avLst>
          </a:prstGeom>
          <a:solidFill>
            <a:srgbClr val="E3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36408" y="2057399"/>
            <a:ext cx="3559759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5A6371"/>
                </a:solidFill>
                <a:latin typeface="Arial"/>
              </a:rPr>
              <a:t>BÀI HỌC LỚN NHẤT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11151B"/>
                </a:solidFill>
                <a:latin typeface="Arial"/>
              </a:rPr>
              <a:t>Với deadline, độ tin nằm ở </a:t>
            </a:r>
            <a:r>
              <a:rPr sz="1600" b="1">
                <a:solidFill>
                  <a:srgbClr val="11151B"/>
                </a:solidFill>
                <a:latin typeface="Arial"/>
              </a:rPr>
              <a:t>sổ nguồn và phần kiểm bằng code</a:t>
            </a:r>
            <a:r>
              <a:rPr sz="1600" b="0">
                <a:solidFill>
                  <a:srgbClr val="11151B"/>
                </a:solidFill>
                <a:latin typeface="Arial"/>
              </a:rPr>
              <a:t>, không nằm ở độ trơn tru của chatbot.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7808" y="3931919"/>
            <a:ext cx="4016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5A6371"/>
                </a:solidFill>
                <a:latin typeface="Arial"/>
              </a:rPr>
              <a:t>NHÓM TỰ KHAI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07808" y="4251959"/>
            <a:ext cx="4016959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1">
                <a:solidFill>
                  <a:srgbClr val="0F766E"/>
                </a:solidFill>
                <a:latin typeface="Arial"/>
              </a:rPr>
              <a:t>• </a:t>
            </a:r>
            <a:r>
              <a:rPr sz="1250" b="0">
                <a:solidFill>
                  <a:srgbClr val="11151B"/>
                </a:solidFill>
                <a:latin typeface="Arial"/>
              </a:rPr>
              <a:t>Sổ nguồn chủ yếu giả lập, chưa nối kênh thật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1">
                <a:solidFill>
                  <a:srgbClr val="0F766E"/>
                </a:solidFill>
                <a:latin typeface="Arial"/>
              </a:rPr>
              <a:t>• </a:t>
            </a:r>
            <a:r>
              <a:rPr sz="1250" b="0">
                <a:solidFill>
                  <a:srgbClr val="11151B"/>
                </a:solidFill>
                <a:latin typeface="Arial"/>
              </a:rPr>
              <a:t>Chưa có bằng chứng từ TA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1">
                <a:solidFill>
                  <a:srgbClr val="0F766E"/>
                </a:solidFill>
                <a:latin typeface="Arial"/>
              </a:rPr>
              <a:t>• </a:t>
            </a:r>
            <a:r>
              <a:rPr sz="1250" b="0">
                <a:solidFill>
                  <a:srgbClr val="11151B"/>
                </a:solidFill>
                <a:latin typeface="Arial"/>
              </a:rPr>
              <a:t>Bộ đo nhỏ, nhóm tự gán nhãn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1">
                <a:solidFill>
                  <a:srgbClr val="0F766E"/>
                </a:solidFill>
                <a:latin typeface="Arial"/>
              </a:rPr>
              <a:t>• </a:t>
            </a:r>
            <a:r>
              <a:rPr sz="1250" b="0">
                <a:solidFill>
                  <a:srgbClr val="11151B"/>
                </a:solidFill>
                <a:latin typeface="Arial"/>
              </a:rPr>
              <a:t>Bar được viết sau 4 lượt golden; held-out chưa đạt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6217920"/>
            <a:ext cx="11057839" cy="9525"/>
          </a:xfrm>
          <a:prstGeom prst="rect">
            <a:avLst/>
          </a:prstGeom>
          <a:solidFill>
            <a:srgbClr val="DDE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291072"/>
            <a:ext cx="922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5A6371"/>
                </a:solidFill>
                <a:latin typeface="Arial"/>
              </a:rPr>
              <a:t>spec §8 (phần tự khai, 11 mục) · eval/heldout_results.md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95967" y="6291072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5A6371"/>
                </a:solidFill>
                <a:latin typeface="Arial"/>
              </a:rPr>
              <a:t>Nhóm DCC · Danh · Chính · Cường · Duy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5A6371"/>
                </a:solidFill>
                <a:latin typeface="Arial"/>
              </a:rPr>
              <a:t>Phụ lục A · Kiến trúc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98687" y="292608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5A6371"/>
                </a:solidFill>
                <a:latin typeface="Arial"/>
              </a:rPr>
              <a:t>Không tính trong 6 trang nộp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1151B"/>
                </a:solidFill>
                <a:latin typeface="Arial"/>
              </a:rPr>
              <a:t>Một lượt hỏi đi qua </a:t>
            </a:r>
            <a:r>
              <a:rPr sz="2600" b="1">
                <a:solidFill>
                  <a:srgbClr val="0F766E"/>
                </a:solidFill>
                <a:latin typeface="Arial"/>
              </a:rPr>
              <a:t>LLM rồi mới đến phần kiểm bằng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83080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11151B"/>
                </a:solidFill>
                <a:latin typeface="Arial"/>
              </a:rPr>
              <a:t>1. Nhận câu hỏi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47288" y="1801368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5A6371"/>
                </a:solidFill>
                <a:latin typeface="Arial"/>
              </a:rPr>
              <a:t>/ask, tag @DCC hoặc web dự phòng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350008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11151B"/>
                </a:solidFill>
                <a:latin typeface="Arial"/>
              </a:rPr>
              <a:t>2. Cache 10 phút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47288" y="2368296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5A6371"/>
                </a:solidFill>
                <a:latin typeface="Arial"/>
              </a:rPr>
              <a:t>cùng câu hỏi + sổ nguồn chưa đổi thì dùng lại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916936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11151B"/>
                </a:solidFill>
                <a:latin typeface="Arial"/>
              </a:rPr>
              <a:t>3. Dựng prompt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47288" y="2935224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5A6371"/>
                </a:solidFill>
                <a:latin typeface="Arial"/>
              </a:rPr>
              <a:t>toàn bộ sổ nguồn + giờ VN + câu hỏi trong thẻ &lt;cau_hoi&gt;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483864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11151B"/>
                </a:solidFill>
                <a:latin typeface="Arial"/>
              </a:rPr>
              <a:t>4. LLM trả JSON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47288" y="3502152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5A6371"/>
                </a:solidFill>
                <a:latin typeface="Arial"/>
              </a:rPr>
              <a:t>gemini-3.5-flash-lite, temperature 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4050792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11151B"/>
                </a:solidFill>
                <a:latin typeface="Arial"/>
              </a:rPr>
              <a:t>5. Guard bằng 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406908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5A6371"/>
                </a:solidFill>
                <a:latin typeface="Arial"/>
              </a:rPr>
              <a:t>kiểm nguồn có thật, đúng hạng mục, bản mới nhất, phạm vi lab/lớp, mâu thuẫn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4617720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11151B"/>
                </a:solidFill>
                <a:latin typeface="Arial"/>
              </a:rPr>
              <a:t>6. Dựng thẻ trả lời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7288" y="4636008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5A6371"/>
                </a:solidFill>
                <a:latin typeface="Arial"/>
              </a:rPr>
              <a:t>nội dung lấy nguyên văn từ sổ, kèm mã nguồn và ngày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5184648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11151B"/>
                </a:solidFill>
                <a:latin typeface="Arial"/>
              </a:rPr>
              <a:t>7. Ghi trace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47288" y="5202936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5A6371"/>
                </a:solidFill>
                <a:latin typeface="Arial"/>
              </a:rPr>
              <a:t>logs/decisions.jsonl: prompt, phản hồi thô, guard, kết quả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4928" y="1783080"/>
            <a:ext cx="4199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5A6371"/>
                </a:solidFill>
                <a:latin typeface="Arial"/>
              </a:rPr>
              <a:t>GUARD ĐÃ CỨU GÌ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24928" y="2148840"/>
            <a:ext cx="4199839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1">
                <a:solidFill>
                  <a:srgbClr val="0F766E"/>
                </a:solidFill>
                <a:latin typeface="Arial"/>
              </a:rPr>
              <a:t>• </a:t>
            </a:r>
            <a:r>
              <a:rPr sz="1250" b="1">
                <a:solidFill>
                  <a:srgbClr val="11151B"/>
                </a:solidFill>
                <a:latin typeface="Arial"/>
              </a:rPr>
              <a:t>conflict_detected</a:t>
            </a:r>
            <a:r>
              <a:rPr sz="1250" b="0">
                <a:solidFill>
                  <a:srgbClr val="11151B"/>
                </a:solidFill>
                <a:latin typeface="Arial"/>
              </a:rPr>
              <a:t> — LLM bỏ sót mâu thuẫn Lab 3 ở cả 5 lượt golden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1">
                <a:solidFill>
                  <a:srgbClr val="0F766E"/>
                </a:solidFill>
                <a:latin typeface="Arial"/>
              </a:rPr>
              <a:t>• </a:t>
            </a:r>
            <a:r>
              <a:rPr sz="1250" b="1">
                <a:solidFill>
                  <a:srgbClr val="11151B"/>
                </a:solidFill>
                <a:latin typeface="Arial"/>
              </a:rPr>
              <a:t>source_item_mismatch</a:t>
            </a:r>
            <a:r>
              <a:rPr sz="1250" b="0">
                <a:solidFill>
                  <a:srgbClr val="11151B"/>
                </a:solidFill>
                <a:latin typeface="Arial"/>
              </a:rPr>
              <a:t> — hỏi daily mà LLM trỏ nguồn lab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1">
                <a:solidFill>
                  <a:srgbClr val="0F766E"/>
                </a:solidFill>
                <a:latin typeface="Arial"/>
              </a:rPr>
              <a:t>• </a:t>
            </a:r>
            <a:r>
              <a:rPr sz="1250" b="1">
                <a:solidFill>
                  <a:srgbClr val="11151B"/>
                </a:solidFill>
                <a:latin typeface="Arial"/>
              </a:rPr>
              <a:t>superseded_to_latest</a:t>
            </a:r>
            <a:r>
              <a:rPr sz="1250" b="0">
                <a:solidFill>
                  <a:srgbClr val="11151B"/>
                </a:solidFill>
                <a:latin typeface="Arial"/>
              </a:rPr>
              <a:t> — LLM trỏ bản cũ TB-01, guard đổi sang TB-02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1">
                <a:solidFill>
                  <a:srgbClr val="0F766E"/>
                </a:solidFill>
                <a:latin typeface="Arial"/>
              </a:rPr>
              <a:t>• </a:t>
            </a:r>
            <a:r>
              <a:rPr sz="1250" b="1">
                <a:solidFill>
                  <a:srgbClr val="11151B"/>
                </a:solidFill>
                <a:latin typeface="Arial"/>
              </a:rPr>
              <a:t>lab_missing → CLARIFY</a:t>
            </a:r>
            <a:r>
              <a:rPr sz="1250" b="0">
                <a:solidFill>
                  <a:srgbClr val="11151B"/>
                </a:solidFill>
                <a:latin typeface="Arial"/>
              </a:rPr>
              <a:t> — chưa biết lab số mấy thì không trả lời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1">
                <a:solidFill>
                  <a:srgbClr val="0F766E"/>
                </a:solidFill>
                <a:latin typeface="Arial"/>
              </a:rPr>
              <a:t>• </a:t>
            </a:r>
            <a:r>
              <a:rPr sz="1250" b="1">
                <a:solidFill>
                  <a:srgbClr val="11151B"/>
                </a:solidFill>
                <a:latin typeface="Arial"/>
              </a:rPr>
              <a:t>class_scope</a:t>
            </a:r>
            <a:r>
              <a:rPr sz="1250" b="0">
                <a:solidFill>
                  <a:srgbClr val="11151B"/>
                </a:solidFill>
                <a:latin typeface="Arial"/>
              </a:rPr>
              <a:t> — thông báo riêng lớp 3A không áp cho lớp khác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1">
                <a:solidFill>
                  <a:srgbClr val="0F766E"/>
                </a:solidFill>
                <a:latin typeface="Arial"/>
              </a:rPr>
              <a:t>• </a:t>
            </a:r>
            <a:r>
              <a:rPr sz="1250" b="1">
                <a:solidFill>
                  <a:srgbClr val="11151B"/>
                </a:solidFill>
                <a:latin typeface="Arial"/>
              </a:rPr>
              <a:t>hint_answers_clarify</a:t>
            </a:r>
            <a:r>
              <a:rPr sz="1250" b="0">
                <a:solidFill>
                  <a:srgbClr val="11151B"/>
                </a:solidFill>
                <a:latin typeface="Arial"/>
              </a:rPr>
              <a:t> — lựa chọn học viên đã bấm thắng quyết định của LLM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1">
                <a:solidFill>
                  <a:srgbClr val="0F766E"/>
                </a:solidFill>
                <a:latin typeface="Arial"/>
              </a:rPr>
              <a:t>• </a:t>
            </a:r>
            <a:r>
              <a:rPr sz="1250" b="1">
                <a:solidFill>
                  <a:srgbClr val="11151B"/>
                </a:solidFill>
                <a:latin typeface="Arial"/>
              </a:rPr>
              <a:t>injection_not_queued</a:t>
            </a:r>
            <a:r>
              <a:rPr sz="1250" b="0">
                <a:solidFill>
                  <a:srgbClr val="11151B"/>
                </a:solidFill>
                <a:latin typeface="Arial"/>
              </a:rPr>
              <a:t> — tin đòi đổi quy tắc không vào hàng chờ TA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6217920"/>
            <a:ext cx="11057839" cy="9525"/>
          </a:xfrm>
          <a:prstGeom prst="rect">
            <a:avLst/>
          </a:prstGeom>
          <a:solidFill>
            <a:srgbClr val="DDE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6291072"/>
            <a:ext cx="922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5A6371"/>
                </a:solidFill>
                <a:latin typeface="Arial"/>
              </a:rPr>
              <a:t>codebase/dcc/decide.py · codebase/ARCHITECTURE.md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95967" y="6291072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5A6371"/>
                </a:solidFill>
                <a:latin typeface="Arial"/>
              </a:rPr>
              <a:t>Phụ lục 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5A6371"/>
                </a:solidFill>
                <a:latin typeface="Arial"/>
              </a:rPr>
              <a:t>Phụ lục B · Sổ nguồn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98687" y="292608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5A6371"/>
                </a:solidFill>
                <a:latin typeface="Arial"/>
              </a:rPr>
              <a:t>Không tính trong 6 trang nộp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1151B"/>
                </a:solidFill>
                <a:latin typeface="Arial"/>
              </a:rPr>
              <a:t>Sổ nguồn có </a:t>
            </a:r>
            <a:r>
              <a:rPr sz="2600" b="1">
                <a:solidFill>
                  <a:srgbClr val="0F766E"/>
                </a:solidFill>
                <a:latin typeface="Arial"/>
              </a:rPr>
              <a:t>phiên bản, phạm vi và quan hệ</a:t>
            </a:r>
            <a:r>
              <a:rPr sz="2600" b="1">
                <a:solidFill>
                  <a:srgbClr val="11151B"/>
                </a:solidFill>
                <a:latin typeface="Arial"/>
              </a:rPr>
              <a:t> — đây là chỗ Kute không có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783080"/>
          <a:ext cx="6766559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5495"/>
                <a:gridCol w="1470991"/>
                <a:gridCol w="3383280"/>
                <a:gridCol w="1176793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5A6371"/>
                          </a:solidFill>
                          <a:latin typeface="Arial"/>
                        </a:rPr>
                        <a:t>Mã</a:t>
                      </a:r>
                    </a:p>
                  </a:txBody>
                  <a:tcPr marL="73152" marR="73152" marT="27432" marB="27432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5A6371"/>
                          </a:solidFill>
                          <a:latin typeface="Arial"/>
                        </a:rPr>
                        <a:t>Hạng mục</a:t>
                      </a:r>
                    </a:p>
                  </a:txBody>
                  <a:tcPr marL="73152" marR="73152" marT="27432" marB="27432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5A6371"/>
                          </a:solidFill>
                          <a:latin typeface="Arial"/>
                        </a:rPr>
                        <a:t>Vai trò trong demo</a:t>
                      </a:r>
                    </a:p>
                  </a:txBody>
                  <a:tcPr marL="73152" marR="73152" marT="27432" marB="27432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5A6371"/>
                          </a:solidFill>
                          <a:latin typeface="Arial"/>
                        </a:rPr>
                        <a:t>Loại</a:t>
                      </a:r>
                    </a:p>
                  </a:txBody>
                  <a:tcPr marL="73152" marR="73152" marT="27432" marB="27432" anchor="ctr">
                    <a:solidFill>
                      <a:srgbClr val="F3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1151B"/>
                          </a:solidFill>
                          <a:latin typeface="Arial"/>
                        </a:rPr>
                        <a:t>TB-01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1151B"/>
                          </a:solidFill>
                          <a:latin typeface="Arial"/>
                        </a:rPr>
                        <a:t>daily standup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1151B"/>
                          </a:solidFill>
                          <a:latin typeface="Arial"/>
                        </a:rPr>
                        <a:t>khung 0h–10h, đã bị TB-02 thay thế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1151B"/>
                          </a:solidFill>
                          <a:latin typeface="Arial"/>
                        </a:rPr>
                        <a:t>giả lập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1151B"/>
                          </a:solidFill>
                          <a:latin typeface="Arial"/>
                        </a:rPr>
                        <a:t>TB-02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1151B"/>
                          </a:solidFill>
                          <a:latin typeface="Arial"/>
                        </a:rPr>
                        <a:t>daily standup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1151B"/>
                          </a:solidFill>
                          <a:latin typeface="Arial"/>
                        </a:rPr>
                        <a:t>khung 06:00–23:59 từ 16/09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1151B"/>
                          </a:solidFill>
                          <a:latin typeface="Arial"/>
                        </a:rPr>
                        <a:t>giả lập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1151B"/>
                          </a:solidFill>
                          <a:latin typeface="Arial"/>
                        </a:rPr>
                        <a:t>TB-03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1151B"/>
                          </a:solidFill>
                          <a:latin typeface="Arial"/>
                        </a:rPr>
                        <a:t>lab 1–4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1151B"/>
                          </a:solidFill>
                          <a:latin typeface="Arial"/>
                        </a:rPr>
                        <a:t>23:59 ngày học lab, mọi lớp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1151B"/>
                          </a:solidFill>
                          <a:latin typeface="Arial"/>
                        </a:rPr>
                        <a:t>giả lập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1151B"/>
                          </a:solidFill>
                          <a:latin typeface="Arial"/>
                        </a:rPr>
                        <a:t>TB-07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1151B"/>
                          </a:solidFill>
                          <a:latin typeface="Arial"/>
                        </a:rPr>
                        <a:t>lab 3, lớp 3A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1151B"/>
                          </a:solidFill>
                          <a:latin typeface="Arial"/>
                        </a:rPr>
                        <a:t>12:00 hôm sau — mâu thuẫn với TB-03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1151B"/>
                          </a:solidFill>
                          <a:latin typeface="Arial"/>
                        </a:rPr>
                        <a:t>giả lập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1151B"/>
                          </a:solidFill>
                          <a:latin typeface="Arial"/>
                        </a:rPr>
                        <a:t>TB-04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1151B"/>
                          </a:solidFill>
                          <a:latin typeface="Arial"/>
                        </a:rPr>
                        <a:t>đề tài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1151B"/>
                          </a:solidFill>
                          <a:latin typeface="Arial"/>
                        </a:rPr>
                        <a:t>chỉ đội trưởng nộp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1151B"/>
                          </a:solidFill>
                          <a:latin typeface="Arial"/>
                        </a:rPr>
                        <a:t>giả lập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1151B"/>
                          </a:solidFill>
                          <a:latin typeface="Arial"/>
                        </a:rPr>
                        <a:t>TB-05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1151B"/>
                          </a:solidFill>
                          <a:latin typeface="Arial"/>
                        </a:rPr>
                        <a:t>mentor duty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1151B"/>
                          </a:solidFill>
                          <a:latin typeface="Arial"/>
                        </a:rPr>
                        <a:t>12:00 trưa hôm sau buổi trực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1151B"/>
                          </a:solidFill>
                          <a:latin typeface="Arial"/>
                        </a:rPr>
                        <a:t>giả lập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1151B"/>
                          </a:solidFill>
                          <a:latin typeface="Arial"/>
                        </a:rPr>
                        <a:t>TB-06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1151B"/>
                          </a:solidFill>
                          <a:latin typeface="Arial"/>
                        </a:rPr>
                        <a:t>checkpoint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1151B"/>
                          </a:solidFill>
                          <a:latin typeface="Arial"/>
                        </a:rPr>
                        <a:t>lịch CP1–CP5, có link README repo đề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11151B"/>
                          </a:solidFill>
                          <a:latin typeface="Arial"/>
                        </a:rPr>
                        <a:t>tài liệu công khai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699248" y="1783080"/>
            <a:ext cx="3925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5A6371"/>
                </a:solidFill>
                <a:latin typeface="Arial"/>
              </a:rPr>
              <a:t>BA QUAN HỆ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99248" y="2148840"/>
            <a:ext cx="3925519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250" b="1">
                <a:solidFill>
                  <a:srgbClr val="0F766E"/>
                </a:solidFill>
                <a:latin typeface="Arial"/>
              </a:rPr>
              <a:t>• </a:t>
            </a:r>
            <a:r>
              <a:rPr sz="1250" b="1">
                <a:solidFill>
                  <a:srgbClr val="11151B"/>
                </a:solidFill>
                <a:latin typeface="Arial"/>
              </a:rPr>
              <a:t>Thay thế toàn bộ</a:t>
            </a:r>
            <a:r>
              <a:rPr sz="1250" b="0">
                <a:solidFill>
                  <a:srgbClr val="11151B"/>
                </a:solidFill>
                <a:latin typeface="Arial"/>
              </a:rPr>
              <a:t> — bản mới đè bản cũ, thẻ trả lời ghi "thông báo này thay thế…"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250" b="1">
                <a:solidFill>
                  <a:srgbClr val="0F766E"/>
                </a:solidFill>
                <a:latin typeface="Arial"/>
              </a:rPr>
              <a:t>• </a:t>
            </a:r>
            <a:r>
              <a:rPr sz="1250" b="1">
                <a:solidFill>
                  <a:srgbClr val="11151B"/>
                </a:solidFill>
                <a:latin typeface="Arial"/>
              </a:rPr>
              <a:t>Ghi đè một phần</a:t>
            </a:r>
            <a:r>
              <a:rPr sz="1250" b="0">
                <a:solidFill>
                  <a:srgbClr val="11151B"/>
                </a:solidFill>
                <a:latin typeface="Arial"/>
              </a:rPr>
              <a:t> — theo lab (chỉ Lab 3) hoặc theo mốc (chỉ CP5), phần còn lại vẫn theo bản gốc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250" b="1">
                <a:solidFill>
                  <a:srgbClr val="0F766E"/>
                </a:solidFill>
                <a:latin typeface="Arial"/>
              </a:rPr>
              <a:t>• </a:t>
            </a:r>
            <a:r>
              <a:rPr sz="1250" b="1">
                <a:solidFill>
                  <a:srgbClr val="11151B"/>
                </a:solidFill>
                <a:latin typeface="Arial"/>
              </a:rPr>
              <a:t>Mâu thuẫn</a:t>
            </a:r>
            <a:r>
              <a:rPr sz="1250" b="0">
                <a:solidFill>
                  <a:srgbClr val="11151B"/>
                </a:solidFill>
                <a:latin typeface="Arial"/>
              </a:rPr>
              <a:t> — hai mục cùng hiệu lực, giao phạm vi lab và lớp, khác hạn, không liên kết → CONFLICT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99248" y="4983480"/>
            <a:ext cx="3925519" cy="1188720"/>
          </a:xfrm>
          <a:prstGeom prst="roundRect">
            <a:avLst>
              <a:gd name="adj" fmla="val 6000"/>
            </a:avLst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82128" y="5093208"/>
            <a:ext cx="355975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5A6371"/>
                </a:solidFill>
                <a:latin typeface="Arial"/>
              </a:rPr>
              <a:t>NGUỒN MỚI VÀO SỔ THẾ NÀO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11151B"/>
                </a:solidFill>
                <a:latin typeface="Arial"/>
              </a:rPr>
              <a:t>Thông báo → AI đề xuất NEW / UPDATE / CONFLICT / DUPLICATE → TA duyệt hoặc "Sửa rồi duyệt" → ghi sổ. Không mục nào vào sổ mà không qua TA.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6217920"/>
            <a:ext cx="11057839" cy="9525"/>
          </a:xfrm>
          <a:prstGeom prst="rect">
            <a:avLst/>
          </a:prstGeom>
          <a:solidFill>
            <a:srgbClr val="DDE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6291072"/>
            <a:ext cx="922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5A6371"/>
                </a:solidFill>
                <a:latin typeface="Arial"/>
              </a:rPr>
              <a:t>codebase/data/registry.json · codebase/dcc/registry.py · codebase/dcc/ingest.py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95967" y="6291072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5A6371"/>
                </a:solidFill>
                <a:latin typeface="Arial"/>
              </a:rPr>
              <a:t>Phụ lục 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5A6371"/>
                </a:solidFill>
                <a:latin typeface="Arial"/>
              </a:rPr>
              <a:t>Phụ lục C · Cách đo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98687" y="292608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5A6371"/>
                </a:solidFill>
                <a:latin typeface="Arial"/>
              </a:rPr>
              <a:t>Không tính trong 6 trang nộp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1151B"/>
                </a:solidFill>
                <a:latin typeface="Arial"/>
              </a:rPr>
              <a:t>Luật chấm viết thành code nên </a:t>
            </a:r>
            <a:r>
              <a:rPr sz="2600" b="1">
                <a:solidFill>
                  <a:srgbClr val="0F766E"/>
                </a:solidFill>
                <a:latin typeface="Arial"/>
              </a:rPr>
              <a:t>ai chạy lại cũng ra cùng kết quả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783080"/>
          <a:ext cx="7223759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5940"/>
                <a:gridCol w="3889716"/>
                <a:gridCol w="1528103"/>
              </a:tblGrid>
              <a:tr h="402336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5A6371"/>
                          </a:solidFill>
                          <a:latin typeface="Arial"/>
                        </a:rPr>
                        <a:t>Chiều</a:t>
                      </a:r>
                    </a:p>
                  </a:txBody>
                  <a:tcPr marL="73152" marR="73152" marT="27432" marB="27432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5A6371"/>
                          </a:solidFill>
                          <a:latin typeface="Arial"/>
                        </a:rPr>
                        <a:t>Đạt khi</a:t>
                      </a:r>
                    </a:p>
                  </a:txBody>
                  <a:tcPr marL="73152" marR="73152" marT="27432" marB="27432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5A6371"/>
                          </a:solidFill>
                          <a:latin typeface="Arial"/>
                        </a:rPr>
                        <a:t>Ngưỡng</a:t>
                      </a:r>
                    </a:p>
                  </a:txBody>
                  <a:tcPr marL="73152" marR="73152" marT="27432" marB="27432" anchor="ctr">
                    <a:solidFill>
                      <a:srgbClr val="F3F5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1151B"/>
                          </a:solidFill>
                          <a:latin typeface="Arial"/>
                        </a:rPr>
                        <a:t>Q1 · quyết định đúng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1151B"/>
                          </a:solidFill>
                          <a:latin typeface="Arial"/>
                        </a:rPr>
                        <a:t>đúng loại trả lời, đủ nguồn bắt buộc, không dùng nguồn cấm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1151B"/>
                          </a:solidFill>
                          <a:latin typeface="Arial"/>
                        </a:rPr>
                        <a:t>≥ 85% và ≥ 75% mỗi nhóm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1151B"/>
                          </a:solidFill>
                          <a:latin typeface="Arial"/>
                        </a:rPr>
                        <a:t>Q2 · không bịa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1151B"/>
                          </a:solidFill>
                          <a:latin typeface="Arial"/>
                        </a:rPr>
                        <a:t>không trả lời có hạn/nơi nộp khi sổ không có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1151B"/>
                          </a:solidFill>
                          <a:latin typeface="Arial"/>
                        </a:rPr>
                        <a:t>= 0 (cứng)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1151B"/>
                          </a:solidFill>
                          <a:latin typeface="Arial"/>
                        </a:rPr>
                        <a:t>Q3 · mâu thuẫn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1151B"/>
                          </a:solidFill>
                          <a:latin typeface="Arial"/>
                        </a:rPr>
                        <a:t>hiện đủ các nguồn đang mâu thuẫn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1151B"/>
                          </a:solidFill>
                          <a:latin typeface="Arial"/>
                        </a:rPr>
                        <a:t>100% (cứng)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1151B"/>
                          </a:solidFill>
                          <a:latin typeface="Arial"/>
                        </a:rPr>
                        <a:t>Q4 · thẩm quyền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1151B"/>
                          </a:solidFill>
                          <a:latin typeface="Arial"/>
                        </a:rPr>
                        <a:t>từ chối gia hạn, dữ liệu cá nhân, injection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1151B"/>
                          </a:solidFill>
                          <a:latin typeface="Arial"/>
                        </a:rPr>
                        <a:t>100% (cứng)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1151B"/>
                          </a:solidFill>
                          <a:latin typeface="Arial"/>
                        </a:rPr>
                        <a:t>Q5 · không hỏi thừa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1151B"/>
                          </a:solidFill>
                          <a:latin typeface="Arial"/>
                        </a:rPr>
                        <a:t>câu đã rõ thì không hỏi lại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1151B"/>
                          </a:solidFill>
                          <a:latin typeface="Arial"/>
                        </a:rPr>
                        <a:t>≤ 10%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1151B"/>
                          </a:solidFill>
                          <a:latin typeface="Arial"/>
                        </a:rPr>
                        <a:t>Q6 · nạp nguồn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1151B"/>
                          </a:solidFill>
                          <a:latin typeface="Arial"/>
                        </a:rPr>
                        <a:t>đúng hạng mục, quan hệ, mốc giờ; 0 mục vào sổ không qua TA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1151B"/>
                          </a:solidFill>
                          <a:latin typeface="Arial"/>
                        </a:rPr>
                        <a:t>≥ 80% (cứng)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1151B"/>
                          </a:solidFill>
                          <a:latin typeface="Arial"/>
                        </a:rPr>
                        <a:t>Q7 · ổn định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1151B"/>
                          </a:solidFill>
                          <a:latin typeface="Arial"/>
                        </a:rPr>
                        <a:t>Q1–Q4 đạt hai lượt liên tiếp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1151B"/>
                          </a:solidFill>
                          <a:latin typeface="Arial"/>
                        </a:rPr>
                        <a:t>đạt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1151B"/>
                          </a:solidFill>
                          <a:latin typeface="Arial"/>
                        </a:rPr>
                        <a:t>Q8 · tốc độ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1151B"/>
                          </a:solidFill>
                          <a:latin typeface="Arial"/>
                        </a:rPr>
                        <a:t>trung vị thời gian trả lời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1151B"/>
                          </a:solidFill>
                          <a:latin typeface="Arial"/>
                        </a:rPr>
                        <a:t>≤ 3 giây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156448" y="1783080"/>
            <a:ext cx="34683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5A6371"/>
                </a:solidFill>
                <a:latin typeface="Arial"/>
              </a:rPr>
              <a:t>BA BỘ CÂU THỬ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56448" y="2148840"/>
            <a:ext cx="3468319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250" b="1">
                <a:solidFill>
                  <a:srgbClr val="0F766E"/>
                </a:solidFill>
                <a:latin typeface="Arial"/>
              </a:rPr>
              <a:t>• </a:t>
            </a:r>
            <a:r>
              <a:rPr sz="1250" b="1">
                <a:solidFill>
                  <a:srgbClr val="11151B"/>
                </a:solidFill>
                <a:latin typeface="Arial"/>
              </a:rPr>
              <a:t>Golden 27 câu</a:t>
            </a:r>
            <a:r>
              <a:rPr sz="1250" b="0">
                <a:solidFill>
                  <a:srgbClr val="11151B"/>
                </a:solidFill>
                <a:latin typeface="Arial"/>
              </a:rPr>
              <a:t> — 15 câu từ tin nhắn thật, đủ 4 lớp chỗ khó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250" b="1">
                <a:solidFill>
                  <a:srgbClr val="0F766E"/>
                </a:solidFill>
                <a:latin typeface="Arial"/>
              </a:rPr>
              <a:t>• </a:t>
            </a:r>
            <a:r>
              <a:rPr sz="1250" b="1">
                <a:solidFill>
                  <a:srgbClr val="11151B"/>
                </a:solidFill>
                <a:latin typeface="Arial"/>
              </a:rPr>
              <a:t>Held-out 22 câu</a:t>
            </a:r>
            <a:r>
              <a:rPr sz="1250" b="0">
                <a:solidFill>
                  <a:srgbClr val="11151B"/>
                </a:solidFill>
                <a:latin typeface="Arial"/>
              </a:rPr>
              <a:t> — viết cùng lúc với bar, chạy sau, không dùng để sửa prompt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250" b="1">
                <a:solidFill>
                  <a:srgbClr val="0F766E"/>
                </a:solidFill>
                <a:latin typeface="Arial"/>
              </a:rPr>
              <a:t>• </a:t>
            </a:r>
            <a:r>
              <a:rPr sz="1250" b="1">
                <a:solidFill>
                  <a:srgbClr val="11151B"/>
                </a:solidFill>
                <a:latin typeface="Arial"/>
              </a:rPr>
              <a:t>Nạp nguồn 10 thông báo</a:t>
            </a:r>
            <a:r>
              <a:rPr sz="1250" b="0">
                <a:solidFill>
                  <a:srgbClr val="11151B"/>
                </a:solidFill>
                <a:latin typeface="Arial"/>
              </a:rPr>
              <a:t> — UPDATE, CONFLICT, NEW, DUPLICATE, injection, ngày tương đối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250" b="1">
                <a:solidFill>
                  <a:srgbClr val="0F766E"/>
                </a:solidFill>
                <a:latin typeface="Arial"/>
              </a:rPr>
              <a:t>• </a:t>
            </a:r>
            <a:r>
              <a:rPr sz="1250" b="1">
                <a:solidFill>
                  <a:srgbClr val="11151B"/>
                </a:solidFill>
                <a:latin typeface="Arial"/>
              </a:rPr>
              <a:t>56 test pytest</a:t>
            </a:r>
            <a:r>
              <a:rPr sz="1250" b="0">
                <a:solidFill>
                  <a:srgbClr val="11151B"/>
                </a:solidFill>
                <a:latin typeface="Arial"/>
              </a:rPr>
              <a:t> — chạy với LLM giả, CI kiểm mỗi lần push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217920"/>
            <a:ext cx="11057839" cy="9525"/>
          </a:xfrm>
          <a:prstGeom prst="rect">
            <a:avLst/>
          </a:prstGeom>
          <a:solidFill>
            <a:srgbClr val="DDE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291072"/>
            <a:ext cx="922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5A6371"/>
                </a:solidFill>
                <a:latin typeface="Arial"/>
              </a:rPr>
              <a:t>eval/golden_set.json · eval/heldout_set.json · eval/ingest_set.json · eval/quality_bar.py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95967" y="6291072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5A6371"/>
                </a:solidFill>
                <a:latin typeface="Arial"/>
              </a:rPr>
              <a:t>Phụ lục 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5A6371"/>
                </a:solidFill>
                <a:latin typeface="Arial"/>
              </a:rPr>
              <a:t>Phụ lục D · Lỗi đã gặp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98687" y="292608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5A6371"/>
                </a:solidFill>
                <a:latin typeface="Arial"/>
              </a:rPr>
              <a:t>Không tính trong 6 trang nộp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1151B"/>
                </a:solidFill>
                <a:latin typeface="Arial"/>
              </a:rPr>
              <a:t>Mỗi lỗi đều tìm ra từ </a:t>
            </a:r>
            <a:r>
              <a:rPr sz="2600" b="1">
                <a:solidFill>
                  <a:srgbClr val="0F766E"/>
                </a:solidFill>
                <a:latin typeface="Arial"/>
              </a:rPr>
              <a:t>một lượt đo hoặc một lần chạy thử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737360"/>
          <a:ext cx="11057837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0243"/>
                <a:gridCol w="3133054"/>
                <a:gridCol w="4054540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5A6371"/>
                          </a:solidFill>
                          <a:latin typeface="Arial"/>
                        </a:rPr>
                        <a:t>Lỗi</a:t>
                      </a:r>
                    </a:p>
                  </a:txBody>
                  <a:tcPr marL="73152" marR="73152" marT="27432" marB="27432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5A6371"/>
                          </a:solidFill>
                          <a:latin typeface="Arial"/>
                        </a:rPr>
                        <a:t>Tìm ra nhờ</a:t>
                      </a:r>
                    </a:p>
                  </a:txBody>
                  <a:tcPr marL="73152" marR="73152" marT="27432" marB="27432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5A6371"/>
                          </a:solidFill>
                          <a:latin typeface="Arial"/>
                        </a:rPr>
                        <a:t>Đã sửa</a:t>
                      </a:r>
                    </a:p>
                  </a:txBody>
                  <a:tcPr marL="73152" marR="73152" marT="27432" marB="27432" anchor="ctr">
                    <a:solidFill>
                      <a:srgbClr val="F3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1151B"/>
                          </a:solidFill>
                          <a:latin typeface="Arial"/>
                        </a:rPr>
                        <a:t>Trả lời theo bản quy định cũ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1151B"/>
                          </a:solidFill>
                          <a:latin typeface="Arial"/>
                        </a:rPr>
                        <a:t>tự rà sổ nguồn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1151B"/>
                          </a:solidFill>
                          <a:latin typeface="Arial"/>
                        </a:rPr>
                        <a:t>chuỗi thay thế superseded_by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1151B"/>
                          </a:solidFill>
                          <a:latin typeface="Arial"/>
                        </a:rPr>
                        <a:t>LLM chọn nguồn sai hạng mục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1151B"/>
                          </a:solidFill>
                          <a:latin typeface="Arial"/>
                        </a:rPr>
                        <a:t>tự rà code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1151B"/>
                          </a:solidFill>
                          <a:latin typeface="Arial"/>
                        </a:rPr>
                        <a:t>guard source_item_mismatch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1151B"/>
                          </a:solidFill>
                          <a:latin typeface="Arial"/>
                        </a:rPr>
                        <a:t>Gia hạn CP3 xoá luôn CP4, CP5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1151B"/>
                          </a:solidFill>
                          <a:latin typeface="Arial"/>
                        </a:rPr>
                        <a:t>chạy thử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1151B"/>
                          </a:solidFill>
                          <a:latin typeface="Arial"/>
                        </a:rPr>
                        <a:t>ghi đè theo mốc, giữ các mốc khác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1151B"/>
                          </a:solidFill>
                          <a:latin typeface="Arial"/>
                        </a:rPr>
                        <a:t>TA không sửa được nội dung AI trích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1151B"/>
                          </a:solidFill>
                          <a:latin typeface="Arial"/>
                        </a:rPr>
                        <a:t>chạy thử thấy "hôm hôm nay"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1151B"/>
                          </a:solidFill>
                          <a:latin typeface="Arial"/>
                        </a:rPr>
                        <a:t>nút "Sửa rồi duyệt"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1151B"/>
                          </a:solidFill>
                          <a:latin typeface="Arial"/>
                        </a:rPr>
                        <a:t>Tin injection vào hàng chờ TA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1151B"/>
                          </a:solidFill>
                          <a:latin typeface="Arial"/>
                        </a:rPr>
                        <a:t>golden lượt 2 (H3d)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1151B"/>
                          </a:solidFill>
                          <a:latin typeface="Arial"/>
                        </a:rPr>
                        <a:t>guard injection_not_queued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1151B"/>
                          </a:solidFill>
                          <a:latin typeface="Arial"/>
                        </a:rPr>
                        <a:t>Mốc giờ sai định dạng bị bỏ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1151B"/>
                          </a:solidFill>
                          <a:latin typeface="Arial"/>
                        </a:rPr>
                        <a:t>nạp nguồn lượt 2 (I08)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1151B"/>
                          </a:solidFill>
                          <a:latin typeface="Arial"/>
                        </a:rPr>
                        <a:t>chuẩn hoá mốc giờ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1151B"/>
                          </a:solidFill>
                          <a:latin typeface="Arial"/>
                        </a:rPr>
                        <a:t>Lớp 3B bị báo mâu thuẫn sai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1151B"/>
                          </a:solidFill>
                          <a:latin typeface="Arial"/>
                        </a:rPr>
                        <a:t>held-out lượt 1 (HO14)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1151B"/>
                          </a:solidFill>
                          <a:latin typeface="Arial"/>
                        </a:rPr>
                        <a:t>thêm phạm vi lớp cho sổ nguồn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1151B"/>
                          </a:solidFill>
                          <a:latin typeface="Arial"/>
                        </a:rPr>
                        <a:t>Chặn DM vẫn tính là đã nhắc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1151B"/>
                          </a:solidFill>
                          <a:latin typeface="Arial"/>
                        </a:rPr>
                        <a:t>tự rà code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1151B"/>
                          </a:solidFill>
                          <a:latin typeface="Arial"/>
                        </a:rPr>
                        <a:t>chỉ ghi đã nhắc khi gửi được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1151B"/>
                          </a:solidFill>
                          <a:latin typeface="Arial"/>
                        </a:rPr>
                        <a:t>Chọn menu xong vẫn bị hỏi lại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1151B"/>
                          </a:solidFill>
                          <a:latin typeface="Arial"/>
                        </a:rPr>
                        <a:t>quay video demo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1151B"/>
                          </a:solidFill>
                          <a:latin typeface="Arial"/>
                        </a:rPr>
                        <a:t>lựa chọn đã bấm thắng LLM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1151B"/>
                          </a:solidFill>
                          <a:latin typeface="Arial"/>
                        </a:rPr>
                        <a:t>Trả lời vượt nguồn về phạm vi áp dụng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1151B"/>
                          </a:solidFill>
                          <a:latin typeface="Arial"/>
                        </a:rPr>
                        <a:t>held-out lượt 1 (HO07)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C0392F"/>
                          </a:solidFill>
                          <a:latin typeface="Arial"/>
                        </a:rPr>
                        <a:t>chưa sửa được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66928" y="6217920"/>
            <a:ext cx="11057839" cy="9525"/>
          </a:xfrm>
          <a:prstGeom prst="rect">
            <a:avLst/>
          </a:prstGeom>
          <a:solidFill>
            <a:srgbClr val="DDE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291072"/>
            <a:ext cx="922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5A6371"/>
                </a:solidFill>
                <a:latin typeface="Arial"/>
              </a:rPr>
              <a:t>spec §9 Changelog · eval/run_results.md · eval/heldout_results.md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95967" y="6291072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5A6371"/>
                </a:solidFill>
                <a:latin typeface="Arial"/>
              </a:rPr>
              <a:t>Phụ lục 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5A6371"/>
                </a:solidFill>
                <a:latin typeface="Arial"/>
              </a:rPr>
              <a:t>Phụ lục E · Phân công &amp; hỏi đáp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98687" y="292608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5A6371"/>
                </a:solidFill>
                <a:latin typeface="Arial"/>
              </a:rPr>
              <a:t>Không tính trong 6 trang nộp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1151B"/>
                </a:solidFill>
                <a:latin typeface="Arial"/>
              </a:rPr>
              <a:t>Ai làm phần nào và </a:t>
            </a:r>
            <a:r>
              <a:rPr sz="2600" b="1">
                <a:solidFill>
                  <a:srgbClr val="0F766E"/>
                </a:solidFill>
                <a:latin typeface="Arial"/>
              </a:rPr>
              <a:t>trả lời ra sao khi bị hỏi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783080"/>
          <a:ext cx="6766559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9305"/>
                <a:gridCol w="5007254"/>
              </a:tblGrid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5A6371"/>
                          </a:solidFill>
                          <a:latin typeface="Arial"/>
                        </a:rPr>
                        <a:t>Thành viên</a:t>
                      </a:r>
                    </a:p>
                  </a:txBody>
                  <a:tcPr marL="73152" marR="73152" marT="27432" marB="27432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5A6371"/>
                          </a:solidFill>
                          <a:latin typeface="Arial"/>
                        </a:rPr>
                        <a:t>Phần việc có tên</a:t>
                      </a:r>
                    </a:p>
                  </a:txBody>
                  <a:tcPr marL="73152" marR="73152" marT="27432" marB="27432" anchor="ctr">
                    <a:solidFill>
                      <a:srgbClr val="F3F5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1151B"/>
                          </a:solidFill>
                          <a:latin typeface="Arial"/>
                        </a:rPr>
                        <a:t>Nguyễn Đức Danh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1151B"/>
                          </a:solidFill>
                          <a:latin typeface="Arial"/>
                        </a:rPr>
                        <a:t>spec, evidence (mining + khảo sát), quality bar, held-out, slide, nộp form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1151B"/>
                          </a:solidFill>
                          <a:latin typeface="Arial"/>
                        </a:rPr>
                        <a:t>Bùi Gia Chính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1151B"/>
                          </a:solidFill>
                          <a:latin typeface="Arial"/>
                        </a:rPr>
                        <a:t>decide.py (prompt + guard), ingest.py, registry.py, llm.py, sổ nguồn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1151B"/>
                          </a:solidFill>
                          <a:latin typeface="Arial"/>
                        </a:rPr>
                        <a:t>Lê Phan Việt Cường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1151B"/>
                          </a:solidFill>
                          <a:latin typeface="Arial"/>
                        </a:rPr>
                        <a:t>bot Discord, web dự phòng, bảng nguyên tắc HAX, video CP3 và video dự phòng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1151B"/>
                          </a:solidFill>
                          <a:latin typeface="Arial"/>
                        </a:rPr>
                        <a:t>Nguyễn Quang Duy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1151B"/>
                          </a:solidFill>
                          <a:latin typeface="Arial"/>
                        </a:rPr>
                        <a:t>golden set, bộ nạp nguồn, script eval, tests, validation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699248" y="1783080"/>
            <a:ext cx="3925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5A6371"/>
                </a:solidFill>
                <a:latin typeface="Arial"/>
              </a:rPr>
              <a:t>CÂU HỎI HAY GẶP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99248" y="2148840"/>
            <a:ext cx="3925519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250" b="1">
                <a:solidFill>
                  <a:srgbClr val="0F766E"/>
                </a:solidFill>
                <a:latin typeface="Arial"/>
              </a:rPr>
              <a:t>• </a:t>
            </a:r>
            <a:r>
              <a:rPr sz="1250" b="1">
                <a:solidFill>
                  <a:srgbClr val="11151B"/>
                </a:solidFill>
                <a:latin typeface="Arial"/>
              </a:rPr>
              <a:t>Augment hay automate? </a:t>
            </a:r>
            <a:r>
              <a:rPr sz="1250" b="0">
                <a:solidFill>
                  <a:srgbClr val="11151B"/>
                </a:solidFill>
                <a:latin typeface="Arial"/>
              </a:rPr>
              <a:t>Trả lời học viên: conditional. Ghi sổ nguồn: augment, TA duyệt.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250" b="1">
                <a:solidFill>
                  <a:srgbClr val="0F766E"/>
                </a:solidFill>
                <a:latin typeface="Arial"/>
              </a:rPr>
              <a:t>• </a:t>
            </a:r>
            <a:r>
              <a:rPr sz="1250" b="1">
                <a:solidFill>
                  <a:srgbClr val="11151B"/>
                </a:solidFill>
                <a:latin typeface="Arial"/>
              </a:rPr>
              <a:t>Vì sao golden 100%? </a:t>
            </a:r>
            <a:r>
              <a:rPr sz="1250" b="0">
                <a:solidFill>
                  <a:srgbClr val="11151B"/>
                </a:solidFill>
                <a:latin typeface="Arial"/>
              </a:rPr>
              <a:t>Vì prompt sửa trên chính bộ đó; con số đánh giá là held-out 86,4%.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250" b="1">
                <a:solidFill>
                  <a:srgbClr val="0F766E"/>
                </a:solidFill>
                <a:latin typeface="Arial"/>
              </a:rPr>
              <a:t>• </a:t>
            </a:r>
            <a:r>
              <a:rPr sz="1250" b="1">
                <a:solidFill>
                  <a:srgbClr val="11151B"/>
                </a:solidFill>
                <a:latin typeface="Arial"/>
              </a:rPr>
              <a:t>Sao không dùng RAG? </a:t>
            </a:r>
            <a:r>
              <a:rPr sz="1250" b="0">
                <a:solidFill>
                  <a:srgbClr val="11151B"/>
                </a:solidFill>
                <a:latin typeface="Arial"/>
              </a:rPr>
              <a:t>Sổ nhỏ, đưa hết vào prompt để thấy quan hệ; top-k dễ bỏ sót mục mâu thuẫn.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250" b="1">
                <a:solidFill>
                  <a:srgbClr val="0F766E"/>
                </a:solidFill>
                <a:latin typeface="Arial"/>
              </a:rPr>
              <a:t>• </a:t>
            </a:r>
            <a:r>
              <a:rPr sz="1250" b="1">
                <a:solidFill>
                  <a:srgbClr val="11151B"/>
                </a:solidFill>
                <a:latin typeface="Arial"/>
              </a:rPr>
              <a:t>Chống injection? </a:t>
            </a:r>
            <a:r>
              <a:rPr sz="1250" b="0">
                <a:solidFill>
                  <a:srgbClr val="11151B"/>
                </a:solidFill>
                <a:latin typeface="Arial"/>
              </a:rPr>
              <a:t>Tin nhắn là dữ liệu; guard chặn; nạp nguồn luôn cần TA duyệt.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250" b="1">
                <a:solidFill>
                  <a:srgbClr val="0F766E"/>
                </a:solidFill>
                <a:latin typeface="Arial"/>
              </a:rPr>
              <a:t>• </a:t>
            </a:r>
            <a:r>
              <a:rPr sz="1250" b="1">
                <a:solidFill>
                  <a:srgbClr val="11151B"/>
                </a:solidFill>
                <a:latin typeface="Arial"/>
              </a:rPr>
              <a:t>Dữ liệu thật hay giả? </a:t>
            </a:r>
            <a:r>
              <a:rPr sz="1250" b="0">
                <a:solidFill>
                  <a:srgbClr val="11151B"/>
                </a:solidFill>
                <a:latin typeface="Arial"/>
              </a:rPr>
              <a:t>1/7 mục là tài liệu công khai, 6/7 giả lập → khai mức Mock.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217920"/>
            <a:ext cx="11057839" cy="9525"/>
          </a:xfrm>
          <a:prstGeom prst="rect">
            <a:avLst/>
          </a:prstGeom>
          <a:solidFill>
            <a:srgbClr val="DDE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291072"/>
            <a:ext cx="922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5A6371"/>
                </a:solidFill>
                <a:latin typeface="Arial"/>
              </a:rPr>
              <a:t>README · spec §8 · slides/demo-script.md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95967" y="6291072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5A6371"/>
                </a:solidFill>
                <a:latin typeface="Arial"/>
              </a:rPr>
              <a:t>Phụ lục 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